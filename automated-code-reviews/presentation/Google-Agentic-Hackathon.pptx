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147480625" r:id="rId2"/>
    <p:sldId id="2147480783" r:id="rId3"/>
    <p:sldId id="2147480621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B87897-5D9D-464E-8DD6-07CA51EE9001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C9884D-D48E-465E-A457-F4688BCA43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623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AE232-F346-764A-9AB8-5A3C358248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4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8" name="Google Shape;4168;g2291643df08_17_8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9" name="Google Shape;4169;g2291643df08_17_8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291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79665" y="4914901"/>
            <a:ext cx="5486400" cy="3600450"/>
          </a:xfrm>
        </p:spPr>
        <p:txBody>
          <a:bodyPr/>
          <a:lstStyle/>
          <a:p>
            <a:r>
              <a:rPr lang="en-US" b="1" err="1">
                <a:cs typeface="Calibri"/>
              </a:rPr>
              <a:t>Voir</a:t>
            </a:r>
            <a:r>
              <a:rPr lang="en-US" b="1">
                <a:cs typeface="Calibri"/>
              </a:rPr>
              <a:t> Slide 20 de Romain, pour  coherence avec </a:t>
            </a:r>
            <a:r>
              <a:rPr lang="en-US" b="1" err="1">
                <a:cs typeface="Calibri"/>
              </a:rPr>
              <a:t>Offre</a:t>
            </a:r>
            <a:r>
              <a:rPr lang="en-US" b="1">
                <a:cs typeface="Calibri"/>
              </a:rPr>
              <a:t> </a:t>
            </a:r>
            <a:r>
              <a:rPr lang="en-US" b="1" err="1">
                <a:cs typeface="Calibri"/>
              </a:rPr>
              <a:t>Globale</a:t>
            </a:r>
            <a:endParaRPr lang="en-US" b="1">
              <a:cs typeface="Calibri"/>
            </a:endParaRPr>
          </a:p>
          <a:p>
            <a:endParaRPr lang="en-US" b="1">
              <a:cs typeface="Calibri"/>
            </a:endParaRPr>
          </a:p>
          <a:p>
            <a:endParaRPr lang="en-US" b="1">
              <a:cs typeface="Calibri"/>
            </a:endParaRPr>
          </a:p>
          <a:p>
            <a:r>
              <a:rPr lang="en-US" b="1" err="1">
                <a:cs typeface="Calibri"/>
              </a:rPr>
              <a:t>Reférences</a:t>
            </a:r>
            <a:r>
              <a:rPr lang="en-US" b="1">
                <a:cs typeface="Calibri"/>
              </a:rPr>
              <a:t> :  </a:t>
            </a:r>
          </a:p>
          <a:p>
            <a:r>
              <a:rPr lang="en-US" b="1">
                <a:cs typeface="Calibri"/>
              </a:rPr>
              <a:t>   SNCF MISTRAL    :  Audit, …  Eden Azure</a:t>
            </a:r>
          </a:p>
          <a:p>
            <a:r>
              <a:rPr lang="en-US" b="1">
                <a:cs typeface="Calibri"/>
              </a:rPr>
              <a:t>   SATAIR /  Airbus   : GCP </a:t>
            </a:r>
          </a:p>
          <a:p>
            <a:r>
              <a:rPr lang="en-US" b="1">
                <a:cs typeface="Calibri"/>
              </a:rPr>
              <a:t>   Estee Lauder  Slide 23  : </a:t>
            </a:r>
          </a:p>
          <a:p>
            <a:r>
              <a:rPr lang="en-US" b="1">
                <a:cs typeface="Calibri"/>
              </a:rPr>
              <a:t>   INTELCIA          : GCP</a:t>
            </a:r>
          </a:p>
          <a:p>
            <a:endParaRPr lang="en-US"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AE232-F346-764A-9AB8-5A3C358248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87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A5DEB2-F74A-62CC-0090-1AC9D7D61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09CDC73-4569-7664-AD36-42D75A342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F9D2D2-259C-E01F-CA89-25A5520B8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80C7A-DEE1-4919-921E-3D39EA1A9A6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467318-1019-D29A-09CD-6F27B9847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4EADBA-B3EE-EC10-22EA-E5F06D26B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12222-AC27-46E2-B1DD-D1B9F11D0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0549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FF54D0-0C38-AC77-2B2F-AE1C67B35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16CD1D-4363-4CED-B785-27B54012C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A8D862-73E6-1650-8BF5-B32CC9668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80C7A-DEE1-4919-921E-3D39EA1A9A6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C29F36-38A8-29F8-A71A-1E06F72C8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6E7BCA-27F4-A39F-0A6D-6DFD36A29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12222-AC27-46E2-B1DD-D1B9F11D0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0639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C63C53-2F2C-C50B-C9B8-45E895066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D477FA-31F6-5930-A37E-CFF719953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07C95D-779B-C3D7-860E-FC4E6C233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80C7A-DEE1-4919-921E-3D39EA1A9A6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CE4035-0D23-9F36-85CD-FDB283D57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F2BD5F-72C8-460F-566A-4FD1F879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12222-AC27-46E2-B1DD-D1B9F11D0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4942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A10619-F0EB-8777-90AB-3255197C8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005412-D746-7DAF-73B5-81E65AC91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B90CA1A-F4EE-294D-639F-61A521A95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82A27B-C66C-45B2-9F4B-7DC54830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80C7A-DEE1-4919-921E-3D39EA1A9A6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2BF6920-3A3D-508A-9742-B97C31CB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E1C7D4-7424-A379-B7E2-3A06F4EF5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12222-AC27-46E2-B1DD-D1B9F11D0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745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F3E58C-122A-B3EC-94BF-A101429D8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B6E74D-846C-9C5F-1922-B91AF7A19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068BFA2-B471-7C55-C505-F90C9E22C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244269E-85E8-688B-0454-64A87EF0AC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0ADF577-A4FD-073A-0BDC-6A1F2492A9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45A66E-4578-63C8-D3A2-DCCC7D62C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80C7A-DEE1-4919-921E-3D39EA1A9A6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B196EFF-3F60-4EA4-530C-824A64CF4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C88F835-B8ED-ED15-18E3-1197C21C1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12222-AC27-46E2-B1DD-D1B9F11D0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179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923D55-BE86-44E9-06FE-A49C6EE6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0E6938C-BE44-EE97-D17F-F267D549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80C7A-DEE1-4919-921E-3D39EA1A9A6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3F41EDF-147E-C882-759D-145C36631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2EE7AA3-E34E-242B-D9CD-0DC3F32AE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12222-AC27-46E2-B1DD-D1B9F11D0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8821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0F0C123-6D82-0F91-F141-3641909EC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80C7A-DEE1-4919-921E-3D39EA1A9A6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979D5F3-9FC2-2DC3-B608-CF4C8F8C6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6A2966-C0B6-13D7-D67C-649DD870A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12222-AC27-46E2-B1DD-D1B9F11D0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9458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36D24-2580-69CF-39C9-B59DBE854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927D9D-AE28-291E-1242-4B76DAFDF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59897CF-00C9-B9EE-9BE4-B5FFC8761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85CD3AE-49B7-43DC-73A4-965C16624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80C7A-DEE1-4919-921E-3D39EA1A9A6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320AA5-B384-A7AD-339E-F68722D76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F232A0-4500-63AC-6322-BCB06A84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12222-AC27-46E2-B1DD-D1B9F11D0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8964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5FD28D-610C-2BB1-A577-FC80E80BE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B4ED76C-D29F-F616-57DF-4737719DB7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ABCA070-3F77-4326-6DAD-DA87EE49E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91D6947-6044-FD80-3DB9-A69A051B8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80C7A-DEE1-4919-921E-3D39EA1A9A6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662BF33-298A-D335-DDCA-816F3E0D4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D250BEE-B018-2445-6285-BFDBCF27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12222-AC27-46E2-B1DD-D1B9F11D0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7014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894CED-9C0C-A3C1-097B-4EE981E58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BA33C5D-AE22-35AA-5644-8AE481C86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42E012-8351-8BDB-0148-42B51EAD1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80C7A-DEE1-4919-921E-3D39EA1A9A6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9C97EB-8E88-1189-6E2D-C162DB505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BA1079-E304-3F46-BCF0-29E46025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12222-AC27-46E2-B1DD-D1B9F11D0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5383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E5B0D28-9BC5-FD24-E893-73478F3308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17DA9FA-6900-477C-98FD-BB79B9B22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3654F9-2420-B5F8-4383-1EBF28D91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80C7A-DEE1-4919-921E-3D39EA1A9A6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C35672-A763-8421-F846-1CEC5630B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197987-DDCB-86ED-1CEF-5455C0D1C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12222-AC27-46E2-B1DD-D1B9F11D0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8145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Deep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A3B2FA-F421-A0DB-E0D6-5EA5F350BA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791D0FA-6B99-42E5-B721-5BEB4B07EF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77BA4E-0064-451B-B04F-30179C0144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4016" y="2853868"/>
            <a:ext cx="9144000" cy="113779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800" spc="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en-NL"/>
              <a:t>Title of the presentation</a:t>
            </a:r>
            <a:br>
              <a:rPr lang="en-NL"/>
            </a:br>
            <a:r>
              <a:rPr lang="en-NL"/>
              <a:t>Montserrat Semibold 38 pt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733730-E338-44D3-B4DD-6CA6D568E3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7609" y="4015145"/>
            <a:ext cx="9144000" cy="55121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2100">
                <a:solidFill>
                  <a:schemeClr val="bg1"/>
                </a:solidFill>
                <a:latin typeface="Montserrat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of the presentation Montserrat Medium 21pt</a:t>
            </a:r>
          </a:p>
        </p:txBody>
      </p:sp>
      <p:sp>
        <p:nvSpPr>
          <p:cNvPr id="7" name="AddCustomFooter#1">
            <a:extLst>
              <a:ext uri="{FF2B5EF4-FFF2-40B4-BE49-F238E27FC236}">
                <a16:creationId xmlns:a16="http://schemas.microsoft.com/office/drawing/2014/main" id="{C06D46CF-8691-F3FA-BDB9-F212D56DCF49}"/>
              </a:ext>
            </a:extLst>
          </p:cNvPr>
          <p:cNvSpPr txBox="1"/>
          <p:nvPr userDrawn="1"/>
        </p:nvSpPr>
        <p:spPr bwMode="invGray">
          <a:xfrm>
            <a:off x="5778909" y="6373305"/>
            <a:ext cx="559449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0500" algn="l"/>
              </a:tabLst>
              <a:defRPr/>
            </a:pP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rgbClr val="ECECED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</a:t>
            </a:r>
            <a:r>
              <a:rPr kumimoji="0" lang="nl-NL" sz="650" b="0" i="0" u="none" strike="noStrike" kern="1200" cap="none" spc="0" normalizeH="0" baseline="0" noProof="0">
                <a:ln>
                  <a:noFill/>
                </a:ln>
                <a:solidFill>
                  <a:srgbClr val="ECECED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Eviden SAS</a:t>
            </a:r>
            <a:endParaRPr lang="nl-NL" sz="650" baseline="0">
              <a:solidFill>
                <a:srgbClr val="ECECED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4FAE5309-8B03-F96B-DF7B-68D0478B37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893590" y="5866179"/>
            <a:ext cx="3201843" cy="624251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88E8"/>
              </a:buClr>
              <a:buSzPct val="85000"/>
              <a:buFont typeface="Lucida Sans Unicode" pitchFamily="34" charset="0"/>
              <a:buNone/>
              <a:defRPr lang="en-US" sz="1200" kern="1200" baseline="0" dirty="0" smtClean="0">
                <a:solidFill>
                  <a:schemeClr val="bg1"/>
                </a:solidFill>
                <a:latin typeface="Montserrat Medium" pitchFamily="2" charset="0"/>
                <a:ea typeface="Verdana" pitchFamily="34" charset="0"/>
                <a:cs typeface="Montserrat Medium" pitchFamily="2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88E8"/>
              </a:buClr>
              <a:buSzPct val="85000"/>
              <a:buFont typeface="Lucida Sans Unicode" pitchFamily="34" charset="0"/>
              <a:buNone/>
              <a:defRPr lang="en-US" sz="1200" kern="1200" baseline="0" dirty="0" smtClean="0">
                <a:solidFill>
                  <a:schemeClr val="bg1"/>
                </a:solidFill>
                <a:latin typeface="Montserrat Medium" pitchFamily="2" charset="0"/>
                <a:ea typeface="Verdana" pitchFamily="34" charset="0"/>
                <a:cs typeface="Montserrat Medium" pitchFamily="2" charset="0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rgbClr val="0588E8"/>
              </a:buClr>
              <a:buSzPct val="85000"/>
              <a:buFont typeface="Lucida Sans Unicode" pitchFamily="34" charset="0"/>
              <a:buNone/>
              <a:defRPr lang="en-US" sz="1200" kern="1200" baseline="0" dirty="0" smtClean="0">
                <a:solidFill>
                  <a:srgbClr val="808080"/>
                </a:solidFill>
                <a:latin typeface="Raleway Light" pitchFamily="2" charset="0"/>
                <a:ea typeface="Verdana" pitchFamily="34" charset="0"/>
                <a:cs typeface="Verdana" pitchFamily="34" charset="0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88E8"/>
              </a:buClr>
              <a:buSzPct val="85000"/>
              <a:buFont typeface="Lucida Sans Unicode" pitchFamily="34" charset="0"/>
              <a:buNone/>
              <a:tabLst/>
              <a:defRPr/>
            </a:pPr>
            <a:r>
              <a:rPr lang="en-US"/>
              <a:t>Presenter Name</a:t>
            </a:r>
            <a:br>
              <a:rPr lang="en-NL"/>
            </a:br>
            <a:r>
              <a:rPr lang="en-US"/>
              <a:t>Job Title</a:t>
            </a:r>
            <a:br>
              <a:rPr lang="en-NL"/>
            </a:br>
            <a:r>
              <a:rPr lang="fr-FR"/>
              <a:t>20</a:t>
            </a:r>
            <a:r>
              <a:rPr lang="en-NL"/>
              <a:t>/</a:t>
            </a:r>
            <a:r>
              <a:rPr lang="fr-FR"/>
              <a:t>06</a:t>
            </a:r>
            <a:r>
              <a:rPr lang="en-NL"/>
              <a:t>/</a:t>
            </a:r>
            <a:r>
              <a:rPr lang="fr-FR"/>
              <a:t>2023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EFC91B-1271-0E7C-3DF6-6001E85488F6}"/>
              </a:ext>
            </a:extLst>
          </p:cNvPr>
          <p:cNvSpPr txBox="1"/>
          <p:nvPr userDrawn="1"/>
        </p:nvSpPr>
        <p:spPr>
          <a:xfrm>
            <a:off x="10184239" y="6260022"/>
            <a:ext cx="1475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L" sz="1200">
                <a:solidFill>
                  <a:schemeClr val="bg1"/>
                </a:solidFill>
                <a:latin typeface="Montserrat Medium" pitchFamily="2" charset="0"/>
              </a:rPr>
              <a:t>an atos business</a:t>
            </a:r>
            <a:endParaRPr lang="en-US" sz="1200">
              <a:solidFill>
                <a:schemeClr val="bg1"/>
              </a:solidFill>
              <a:latin typeface="Montserrat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904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u" type="tx">
  <p:cSld name="1_Contenu"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67"/>
          <p:cNvSpPr txBox="1">
            <a:spLocks noGrp="1"/>
          </p:cNvSpPr>
          <p:nvPr>
            <p:ph type="body" idx="1"/>
          </p:nvPr>
        </p:nvSpPr>
        <p:spPr>
          <a:xfrm>
            <a:off x="303548" y="1432984"/>
            <a:ext cx="11436096" cy="4654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457189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1219170" lvl="1" indent="-457189" algn="l">
              <a:spcBef>
                <a:spcPts val="533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57189" algn="l">
              <a:spcBef>
                <a:spcPts val="533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l">
              <a:spcBef>
                <a:spcPts val="533"/>
              </a:spcBef>
              <a:spcAft>
                <a:spcPts val="0"/>
              </a:spcAft>
              <a:buSzPts val="1800"/>
              <a:buChar char="•"/>
              <a:defRPr/>
            </a:lvl4pPr>
            <a:lvl5pPr marL="3047924" lvl="4" indent="-457189" algn="l">
              <a:spcBef>
                <a:spcPts val="533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9" name="Google Shape;889;p67"/>
          <p:cNvSpPr txBox="1">
            <a:spLocks noGrp="1"/>
          </p:cNvSpPr>
          <p:nvPr>
            <p:ph type="title"/>
          </p:nvPr>
        </p:nvSpPr>
        <p:spPr>
          <a:xfrm>
            <a:off x="303548" y="164637"/>
            <a:ext cx="11436096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0" name="Google Shape;890;p67"/>
          <p:cNvSpPr txBox="1">
            <a:spLocks noGrp="1"/>
          </p:cNvSpPr>
          <p:nvPr>
            <p:ph type="body" idx="2"/>
          </p:nvPr>
        </p:nvSpPr>
        <p:spPr>
          <a:xfrm>
            <a:off x="303547" y="556607"/>
            <a:ext cx="11436096" cy="580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457189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1219170" lvl="1" indent="-457189" algn="l">
              <a:spcBef>
                <a:spcPts val="533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57189" algn="l">
              <a:spcBef>
                <a:spcPts val="533"/>
              </a:spcBef>
              <a:spcAft>
                <a:spcPts val="0"/>
              </a:spcAft>
              <a:buSzPts val="1800"/>
              <a:buChar char="•"/>
              <a:defRPr/>
            </a:lvl3pPr>
            <a:lvl4pPr marL="2438339" lvl="3" indent="-457189" algn="l">
              <a:spcBef>
                <a:spcPts val="533"/>
              </a:spcBef>
              <a:spcAft>
                <a:spcPts val="0"/>
              </a:spcAft>
              <a:buSzPts val="1800"/>
              <a:buChar char="•"/>
              <a:defRPr/>
            </a:lvl4pPr>
            <a:lvl5pPr marL="3047924" lvl="4" indent="-457189" algn="l">
              <a:spcBef>
                <a:spcPts val="533"/>
              </a:spcBef>
              <a:spcAft>
                <a:spcPts val="0"/>
              </a:spcAft>
              <a:buSzPts val="1800"/>
              <a:buChar char="»"/>
              <a:defRPr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1" name="Google Shape;891;p67"/>
          <p:cNvSpPr txBox="1">
            <a:spLocks noGrp="1"/>
          </p:cNvSpPr>
          <p:nvPr>
            <p:ph type="sldNum" idx="12"/>
          </p:nvPr>
        </p:nvSpPr>
        <p:spPr>
          <a:xfrm>
            <a:off x="5726084" y="6326612"/>
            <a:ext cx="591024" cy="288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1587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96816-C8D8-4D33-ADC6-A0DDE3C6E31E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799" y="471915"/>
            <a:ext cx="11484000" cy="343237"/>
          </a:xfrm>
          <a:prstGeom prst="rect">
            <a:avLst/>
          </a:prstGeom>
        </p:spPr>
        <p:txBody>
          <a:bodyPr tIns="0" bIns="0" anchor="t">
            <a:spAutoFit/>
          </a:bodyPr>
          <a:lstStyle>
            <a:lvl1pPr>
              <a:lnSpc>
                <a:spcPct val="100000"/>
              </a:lnSpc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2E3C4D-A53B-49B6-90E2-150065B875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799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AE1A89-9C65-45A4-8923-6131F1603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799" y="1316038"/>
            <a:ext cx="11484000" cy="46370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48440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3B17FF9-3BAF-B5D3-A3D3-62EB4BF1F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1E0A165-3A63-BC3D-94A8-E605CA5D3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93ECAF-9750-1D11-96E3-32C1C3378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F80C7A-DEE1-4919-921E-3D39EA1A9A66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F89E66-9A1E-1CA0-8225-26695178A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E64581-7C53-5D1F-78FD-5C4CD97ACC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612222-AC27-46E2-B1DD-D1B9F11D0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004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7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6.sv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0E1C5E9-B790-8855-86D3-676555695A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Montserrat SemiBold"/>
              </a:rPr>
              <a:t>Google Agentic Hackathon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37493A5-C4A4-F882-DDBB-54906CBD4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8058" y="764918"/>
            <a:ext cx="1241121" cy="506846"/>
          </a:xfrm>
          <a:prstGeom prst="rect">
            <a:avLst/>
          </a:prstGeom>
        </p:spPr>
      </p:pic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FFF1BBD7-9C47-F2EA-77D4-50D255A577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46407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30"/>
    </mc:Choice>
    <mc:Fallback>
      <p:transition spd="slow" advTm="110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D8E80CB-0BBB-0AF6-6423-69B310DED4DF}"/>
              </a:ext>
            </a:extLst>
          </p:cNvPr>
          <p:cNvSpPr/>
          <p:nvPr/>
        </p:nvSpPr>
        <p:spPr>
          <a:xfrm>
            <a:off x="-12956" y="0"/>
            <a:ext cx="5391496" cy="6858000"/>
          </a:xfrm>
          <a:prstGeom prst="rect">
            <a:avLst/>
          </a:prstGeom>
          <a:solidFill>
            <a:srgbClr val="002D3C"/>
          </a:solidFill>
          <a:ln>
            <a:solidFill>
              <a:srgbClr val="002D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73" name="Google Shape;4173;p354"/>
          <p:cNvSpPr txBox="1"/>
          <p:nvPr/>
        </p:nvSpPr>
        <p:spPr>
          <a:xfrm>
            <a:off x="497538" y="1451189"/>
            <a:ext cx="4377242" cy="491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33" tIns="121833" rIns="121833" bIns="121833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dirty="0">
                <a:solidFill>
                  <a:srgbClr val="FF6D43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Atos Intelligent AI Assistant</a:t>
            </a:r>
          </a:p>
          <a:p>
            <a:pPr algn="ctr">
              <a:lnSpc>
                <a:spcPct val="115000"/>
              </a:lnSpc>
            </a:pPr>
            <a:r>
              <a:rPr lang="en-US" sz="2400" dirty="0">
                <a:solidFill>
                  <a:srgbClr val="FF6D43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(Hackathon)</a:t>
            </a:r>
          </a:p>
          <a:p>
            <a:pPr algn="ctr">
              <a:lnSpc>
                <a:spcPct val="115000"/>
              </a:lnSpc>
            </a:pPr>
            <a:endParaRPr lang="en-US" sz="2400" dirty="0">
              <a:solidFill>
                <a:srgbClr val="FF6D43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algn="ctr">
              <a:lnSpc>
                <a:spcPct val="115000"/>
              </a:lnSpc>
            </a:pPr>
            <a:endParaRPr lang="en-US" sz="2400" dirty="0">
              <a:solidFill>
                <a:srgbClr val="FF6D43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algn="ctr">
              <a:lnSpc>
                <a:spcPct val="115000"/>
              </a:lnSpc>
            </a:pPr>
            <a:endParaRPr lang="en-US" sz="2400" dirty="0">
              <a:solidFill>
                <a:srgbClr val="FF6D43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algn="ctr">
              <a:lnSpc>
                <a:spcPct val="115000"/>
              </a:lnSpc>
            </a:pPr>
            <a:r>
              <a:rPr lang="en-US" sz="2400" dirty="0">
                <a:solidFill>
                  <a:srgbClr val="FF6D43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Automated Code Review: Maximizing Quality and Efficiency</a:t>
            </a:r>
          </a:p>
          <a:p>
            <a:pPr algn="ctr">
              <a:lnSpc>
                <a:spcPct val="115000"/>
              </a:lnSpc>
            </a:pPr>
            <a:endParaRPr lang="en-US" sz="2400" dirty="0">
              <a:solidFill>
                <a:srgbClr val="FF6D43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algn="ctr">
              <a:lnSpc>
                <a:spcPct val="115000"/>
              </a:lnSpc>
            </a:pPr>
            <a:endParaRPr lang="en-US" sz="2400" dirty="0">
              <a:solidFill>
                <a:srgbClr val="FF6D43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algn="ctr">
              <a:lnSpc>
                <a:spcPct val="115000"/>
              </a:lnSpc>
            </a:pPr>
            <a:endParaRPr lang="en-US" sz="2400" dirty="0">
              <a:solidFill>
                <a:srgbClr val="FF6D43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2" name="Graphic 2">
            <a:extLst>
              <a:ext uri="{FF2B5EF4-FFF2-40B4-BE49-F238E27FC236}">
                <a16:creationId xmlns:a16="http://schemas.microsoft.com/office/drawing/2014/main" id="{F5AD299A-EBA4-250B-DE0A-4704C11B6E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8483" y="547444"/>
            <a:ext cx="2494193" cy="446378"/>
          </a:xfrm>
          <a:prstGeom prst="rect">
            <a:avLst/>
          </a:prstGeom>
        </p:spPr>
      </p:pic>
      <p:pic>
        <p:nvPicPr>
          <p:cNvPr id="23" name="Google Shape;515;p66">
            <a:extLst>
              <a:ext uri="{FF2B5EF4-FFF2-40B4-BE49-F238E27FC236}">
                <a16:creationId xmlns:a16="http://schemas.microsoft.com/office/drawing/2014/main" id="{82820967-5E88-ED68-0FA4-800EA707E60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r="79021"/>
          <a:stretch/>
        </p:blipFill>
        <p:spPr>
          <a:xfrm>
            <a:off x="3561928" y="292567"/>
            <a:ext cx="1173797" cy="86605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AD5995FC-0829-3C2D-9AA6-31D611CFC682}"/>
              </a:ext>
            </a:extLst>
          </p:cNvPr>
          <p:cNvSpPr txBox="1"/>
          <p:nvPr/>
        </p:nvSpPr>
        <p:spPr>
          <a:xfrm>
            <a:off x="5660859" y="434279"/>
            <a:ext cx="61080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-apple-system"/>
              </a:rPr>
              <a:t>Description: This document outlines the architecture and workflow for an automated code review system that leverages Gemini, </a:t>
            </a:r>
            <a:r>
              <a:rPr lang="en-US" b="0" i="0" dirty="0" err="1">
                <a:effectLst/>
                <a:latin typeface="-apple-system"/>
              </a:rPr>
              <a:t>LangGraph</a:t>
            </a:r>
            <a:r>
              <a:rPr lang="en-US" b="0" i="0" dirty="0">
                <a:effectLst/>
                <a:latin typeface="-apple-system"/>
              </a:rPr>
              <a:t>, Cloud Run, and Google Cloud Storage. The system is triggered by new releases in GitHub or GitLab repositories, automatically reviews the codebase, and stores the review results in a Google Cloud Storage bucket.</a:t>
            </a:r>
            <a:endParaRPr lang="fr-FR" dirty="0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8FEFDA7A-AB56-126C-CAFE-05208EA3EB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6743" y="3660268"/>
            <a:ext cx="6301303" cy="2989186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51EB6695-DC56-41BF-351F-6A1E5168643F}"/>
              </a:ext>
            </a:extLst>
          </p:cNvPr>
          <p:cNvSpPr txBox="1"/>
          <p:nvPr/>
        </p:nvSpPr>
        <p:spPr>
          <a:xfrm>
            <a:off x="5815263" y="2630905"/>
            <a:ext cx="2294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Architecture:</a:t>
            </a:r>
            <a:endParaRPr lang="fr-FR" dirty="0"/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5B1456B5-1064-977C-D265-11396A6434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161075" t="-161075" r="-161075" b="-1610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23158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"/>
    </mc:Choice>
    <mc:Fallback>
      <p:transition spd="slow" advTm="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B7511943-59E2-35D7-0A53-73A612F2A0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7" t="15427" r="5374" b="9438"/>
          <a:stretch/>
        </p:blipFill>
        <p:spPr>
          <a:xfrm>
            <a:off x="2971608" y="-20956"/>
            <a:ext cx="5892452" cy="25870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BB11CB5-950B-3850-E00F-917A43FAE40A}"/>
              </a:ext>
            </a:extLst>
          </p:cNvPr>
          <p:cNvSpPr/>
          <p:nvPr/>
        </p:nvSpPr>
        <p:spPr>
          <a:xfrm>
            <a:off x="441260" y="484908"/>
            <a:ext cx="4584476" cy="1870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6" name="Google Shape;245;p36">
            <a:extLst>
              <a:ext uri="{FF2B5EF4-FFF2-40B4-BE49-F238E27FC236}">
                <a16:creationId xmlns:a16="http://schemas.microsoft.com/office/drawing/2014/main" id="{E8F81276-8674-0F26-80FD-02589F94FBC2}"/>
              </a:ext>
            </a:extLst>
          </p:cNvPr>
          <p:cNvSpPr txBox="1">
            <a:spLocks/>
          </p:cNvSpPr>
          <p:nvPr/>
        </p:nvSpPr>
        <p:spPr>
          <a:xfrm>
            <a:off x="8864059" y="-20956"/>
            <a:ext cx="3327941" cy="68789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spcFirstLastPara="1" vert="horz" wrap="square" lIns="144000" tIns="96000" rIns="48000" bIns="0" rtlCol="0" anchor="t" anchorCtr="0">
            <a:noAutofit/>
          </a:bodyPr>
          <a:lstStyle>
            <a:lvl1pPr marL="359991" indent="-359991" algn="l" defTabSz="121917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2133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719982" indent="-359991" algn="l" defTabSz="1219170" rtl="0" eaLnBrk="1" latinLnBrk="0" hangingPunct="1">
              <a:spcBef>
                <a:spcPts val="512"/>
              </a:spcBef>
              <a:buClr>
                <a:schemeClr val="tx2"/>
              </a:buClr>
              <a:buFont typeface="Arial" pitchFamily="34" charset="0"/>
              <a:buChar char="–"/>
              <a:defRPr sz="2133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1079973" indent="-359991" algn="l" defTabSz="121917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439964" indent="-359991" algn="l" defTabSz="121917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2133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799955" indent="-359991" algn="l" defTabSz="121917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2133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ucida Sans Unicode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Verdana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D3D8D00-FC1E-649C-6195-02EDCEE6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99" y="609701"/>
            <a:ext cx="4556537" cy="677108"/>
          </a:xfrm>
        </p:spPr>
        <p:txBody>
          <a:bodyPr/>
          <a:lstStyle/>
          <a:p>
            <a:r>
              <a:rPr lang="en-US" b="1" dirty="0">
                <a:solidFill>
                  <a:srgbClr val="002D3C"/>
                </a:solidFill>
                <a:latin typeface="Montserrat Bold"/>
              </a:rPr>
              <a:t>Automated code revie by Gemini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BC48F5-1CDC-5AF9-FB3F-62136181D1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Montserrat" pitchFamily="2" charset="77"/>
              </a:rPr>
              <a:t> 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03E7D9B-BCE0-E22E-B441-122EBEF1836B}"/>
              </a:ext>
            </a:extLst>
          </p:cNvPr>
          <p:cNvSpPr txBox="1"/>
          <p:nvPr/>
        </p:nvSpPr>
        <p:spPr>
          <a:xfrm>
            <a:off x="316799" y="1286643"/>
            <a:ext cx="4429372" cy="738664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schemeClr val="accent2"/>
                </a:solidFill>
                <a:latin typeface="Montserrat"/>
              </a:rPr>
              <a:t>Fast, Easy,  and customizable approach to Gen AI built on open-source framework on GCP Infra</a:t>
            </a:r>
            <a:endParaRPr lang="fr-FR" sz="1400" dirty="0">
              <a:solidFill>
                <a:schemeClr val="accent2"/>
              </a:solidFill>
              <a:latin typeface="Montserrat"/>
            </a:endParaRPr>
          </a:p>
        </p:txBody>
      </p:sp>
      <p:sp>
        <p:nvSpPr>
          <p:cNvPr id="8" name="Google Shape;792;p73">
            <a:extLst>
              <a:ext uri="{FF2B5EF4-FFF2-40B4-BE49-F238E27FC236}">
                <a16:creationId xmlns:a16="http://schemas.microsoft.com/office/drawing/2014/main" id="{C51EB1A4-CEDD-39C8-AA1D-1EB38A26BFE6}"/>
              </a:ext>
            </a:extLst>
          </p:cNvPr>
          <p:cNvSpPr txBox="1"/>
          <p:nvPr/>
        </p:nvSpPr>
        <p:spPr>
          <a:xfrm>
            <a:off x="6125227" y="2878295"/>
            <a:ext cx="2643690" cy="316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6D43"/>
                </a:solidFill>
                <a:latin typeface="Montserrat"/>
                <a:ea typeface="Google Sans"/>
                <a:cs typeface="Google Sans"/>
                <a:sym typeface="Google Sans"/>
              </a:rPr>
              <a:t>Business Impact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6D43"/>
              </a:solidFill>
              <a:effectLst/>
              <a:uLnTx/>
              <a:uFillTx/>
              <a:latin typeface="Montserrat" pitchFamily="2" charset="77"/>
              <a:ea typeface="Google Sans"/>
              <a:cs typeface="Google Sans"/>
              <a:sym typeface="Google Sans"/>
            </a:endParaRPr>
          </a:p>
        </p:txBody>
      </p:sp>
      <p:sp>
        <p:nvSpPr>
          <p:cNvPr id="9" name="Google Shape;792;p73">
            <a:extLst>
              <a:ext uri="{FF2B5EF4-FFF2-40B4-BE49-F238E27FC236}">
                <a16:creationId xmlns:a16="http://schemas.microsoft.com/office/drawing/2014/main" id="{5F876EC8-9B38-40B2-0960-A0640FF52FA6}"/>
              </a:ext>
            </a:extLst>
          </p:cNvPr>
          <p:cNvSpPr txBox="1"/>
          <p:nvPr/>
        </p:nvSpPr>
        <p:spPr>
          <a:xfrm>
            <a:off x="46479" y="2871072"/>
            <a:ext cx="2643670" cy="316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6D43"/>
                </a:solidFill>
                <a:effectLst/>
                <a:uLnTx/>
                <a:uFillTx/>
                <a:latin typeface="Montserrat" pitchFamily="2" charset="77"/>
                <a:ea typeface="Google Sans"/>
                <a:cs typeface="Google Sans"/>
                <a:sym typeface="Google Sans"/>
              </a:rPr>
              <a:t>User Experience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6D43"/>
              </a:solidFill>
              <a:effectLst/>
              <a:uLnTx/>
              <a:uFillTx/>
              <a:latin typeface="Montserrat" pitchFamily="2" charset="77"/>
              <a:ea typeface="Google Sans"/>
              <a:cs typeface="Google Sans"/>
              <a:sym typeface="Google Sans"/>
            </a:endParaRPr>
          </a:p>
        </p:txBody>
      </p:sp>
      <p:sp>
        <p:nvSpPr>
          <p:cNvPr id="10" name="Google Shape;792;p73">
            <a:extLst>
              <a:ext uri="{FF2B5EF4-FFF2-40B4-BE49-F238E27FC236}">
                <a16:creationId xmlns:a16="http://schemas.microsoft.com/office/drawing/2014/main" id="{3986E938-614B-7802-EEEB-5E1F6ACB6840}"/>
              </a:ext>
            </a:extLst>
          </p:cNvPr>
          <p:cNvSpPr txBox="1"/>
          <p:nvPr/>
        </p:nvSpPr>
        <p:spPr>
          <a:xfrm>
            <a:off x="2980964" y="2889287"/>
            <a:ext cx="2828362" cy="316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b="1" dirty="0">
                <a:solidFill>
                  <a:srgbClr val="FF6D43"/>
                </a:solidFill>
                <a:latin typeface="Montserrat"/>
                <a:ea typeface="Google Sans"/>
                <a:cs typeface="Google Sans"/>
                <a:sym typeface="Google Sans"/>
              </a:rPr>
              <a:t>Security</a:t>
            </a:r>
            <a:endParaRPr kumimoji="0" lang="en-US" sz="1100" i="0" u="none" strike="noStrike" kern="1200" cap="none" spc="0" normalizeH="0" baseline="0" noProof="0" dirty="0">
              <a:ln>
                <a:noFill/>
              </a:ln>
              <a:solidFill>
                <a:srgbClr val="FF6D43"/>
              </a:solidFill>
              <a:effectLst/>
              <a:uLnTx/>
              <a:uFillTx/>
              <a:latin typeface="Montserrat"/>
              <a:ea typeface="Google Sans"/>
              <a:cs typeface="Google Sans"/>
              <a:sym typeface="Google San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B7063B7-CAB2-29B0-8E24-90512522E55C}"/>
              </a:ext>
            </a:extLst>
          </p:cNvPr>
          <p:cNvSpPr txBox="1"/>
          <p:nvPr/>
        </p:nvSpPr>
        <p:spPr>
          <a:xfrm>
            <a:off x="213064" y="3479103"/>
            <a:ext cx="273705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en-US" sz="1100" dirty="0">
                <a:solidFill>
                  <a:srgbClr val="002D3C"/>
                </a:solidFill>
                <a:effectLst/>
              </a:rPr>
              <a:t>Git tag / release creation will automatically trigger the pipeline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en-US" sz="1100" dirty="0">
                <a:solidFill>
                  <a:srgbClr val="002D3C"/>
                </a:solidFill>
              </a:rPr>
              <a:t>After a small delay, the code review document will be available which can be retrieved from GCS</a:t>
            </a:r>
            <a:endParaRPr lang="en-US" sz="1100" dirty="0">
              <a:solidFill>
                <a:srgbClr val="002D3C"/>
              </a:solidFill>
              <a:effectLst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100" dirty="0">
              <a:solidFill>
                <a:srgbClr val="002D3C"/>
              </a:solidFill>
              <a:effectLst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710EA65-F2C4-A66B-D105-E466902D0F5B}"/>
              </a:ext>
            </a:extLst>
          </p:cNvPr>
          <p:cNvSpPr txBox="1"/>
          <p:nvPr/>
        </p:nvSpPr>
        <p:spPr>
          <a:xfrm>
            <a:off x="2950120" y="3527108"/>
            <a:ext cx="317510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en-US" sz="1100" dirty="0">
                <a:solidFill>
                  <a:srgbClr val="002D3C"/>
                </a:solidFill>
              </a:rPr>
              <a:t>Cloud run service clones the repo retrieving credentials from Secret Manager.</a:t>
            </a:r>
          </a:p>
          <a:p>
            <a: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en-US" sz="1100" dirty="0">
                <a:solidFill>
                  <a:srgbClr val="002D3C"/>
                </a:solidFill>
              </a:rPr>
              <a:t>The entire ci cd process was done using </a:t>
            </a:r>
            <a:r>
              <a:rPr lang="en-US" sz="1100" dirty="0" err="1">
                <a:solidFill>
                  <a:srgbClr val="002D3C"/>
                </a:solidFill>
              </a:rPr>
              <a:t>github</a:t>
            </a:r>
            <a:r>
              <a:rPr lang="en-US" sz="1100" dirty="0">
                <a:solidFill>
                  <a:srgbClr val="002D3C"/>
                </a:solidFill>
              </a:rPr>
              <a:t> to </a:t>
            </a:r>
            <a:r>
              <a:rPr lang="en-US" sz="1100" dirty="0" err="1">
                <a:solidFill>
                  <a:srgbClr val="002D3C"/>
                </a:solidFill>
              </a:rPr>
              <a:t>gcp</a:t>
            </a:r>
            <a:r>
              <a:rPr lang="en-US" sz="1100" dirty="0">
                <a:solidFill>
                  <a:srgbClr val="002D3C"/>
                </a:solidFill>
              </a:rPr>
              <a:t> workload identity federation.</a:t>
            </a:r>
          </a:p>
          <a:p>
            <a: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en-US" sz="1100" dirty="0">
                <a:solidFill>
                  <a:srgbClr val="002D3C"/>
                </a:solidFill>
              </a:rPr>
              <a:t>No service is accessible without authentication</a:t>
            </a:r>
          </a:p>
          <a:p>
            <a:pPr marL="171450" indent="-171450">
              <a:buFont typeface="Wingdings" pitchFamily="2" charset="2"/>
              <a:buChar char="ü"/>
              <a:defRPr/>
            </a:pPr>
            <a:endParaRPr lang="en-US" sz="1100" dirty="0">
              <a:solidFill>
                <a:srgbClr val="002D3C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EED3B7C-2AA5-EFB2-A36C-5AA12D011A22}"/>
              </a:ext>
            </a:extLst>
          </p:cNvPr>
          <p:cNvSpPr txBox="1"/>
          <p:nvPr/>
        </p:nvSpPr>
        <p:spPr>
          <a:xfrm>
            <a:off x="6125227" y="3629592"/>
            <a:ext cx="2738832" cy="229293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en-US" sz="1100" dirty="0">
                <a:solidFill>
                  <a:srgbClr val="002D3C"/>
                </a:solidFill>
              </a:rPr>
              <a:t>Every month significant amount of man hours spent on code review / application across our clienteles. This can be significantly reduce by this workflow.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en-US" sz="1100" dirty="0">
                <a:solidFill>
                  <a:srgbClr val="002D3C"/>
                </a:solidFill>
              </a:rPr>
              <a:t>Any new measure can be easily integrated to the system in order to be taken into account by the system.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en-US" sz="1100" dirty="0">
                <a:solidFill>
                  <a:srgbClr val="002D3C"/>
                </a:solidFill>
              </a:rPr>
              <a:t>It saves at least 80% of manual code review effort besides the automation tools like SonarQube etc.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endParaRPr lang="en-US" sz="1100" kern="1200" dirty="0">
              <a:solidFill>
                <a:srgbClr val="002D3C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endParaRPr lang="en-US" sz="1100" kern="1200" dirty="0">
              <a:solidFill>
                <a:srgbClr val="002D3C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28" name="Graphic 54" descr="Questions">
            <a:extLst>
              <a:ext uri="{FF2B5EF4-FFF2-40B4-BE49-F238E27FC236}">
                <a16:creationId xmlns:a16="http://schemas.microsoft.com/office/drawing/2014/main" id="{1CBAC0BC-8EB0-CE5C-9FD4-3D1F8E4D74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4301" y="4518416"/>
            <a:ext cx="765875" cy="765875"/>
          </a:xfrm>
          <a:prstGeom prst="rect">
            <a:avLst/>
          </a:prstGeom>
        </p:spPr>
      </p:pic>
      <p:pic>
        <p:nvPicPr>
          <p:cNvPr id="32" name="Graphic 171" descr="Presentation with checklist RTL">
            <a:extLst>
              <a:ext uri="{FF2B5EF4-FFF2-40B4-BE49-F238E27FC236}">
                <a16:creationId xmlns:a16="http://schemas.microsoft.com/office/drawing/2014/main" id="{05B2A00F-A5F2-8DC9-A58F-F708568F39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37673" y="4440870"/>
            <a:ext cx="727022" cy="727022"/>
          </a:xfrm>
          <a:prstGeom prst="rect">
            <a:avLst/>
          </a:prstGeom>
        </p:spPr>
      </p:pic>
      <p:pic>
        <p:nvPicPr>
          <p:cNvPr id="33" name="Image 32" descr="Une image contenant Graphique, Police, graphisme, conception&#10;&#10;Description générée automatiquement">
            <a:extLst>
              <a:ext uri="{FF2B5EF4-FFF2-40B4-BE49-F238E27FC236}">
                <a16:creationId xmlns:a16="http://schemas.microsoft.com/office/drawing/2014/main" id="{7388825F-A9DF-EC8E-3E09-733EA03ADE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521" y="5493666"/>
            <a:ext cx="1557272" cy="1557272"/>
          </a:xfrm>
          <a:prstGeom prst="rect">
            <a:avLst/>
          </a:prstGeom>
        </p:spPr>
      </p:pic>
      <p:sp>
        <p:nvSpPr>
          <p:cNvPr id="44" name="Google Shape;792;p73">
            <a:extLst>
              <a:ext uri="{FF2B5EF4-FFF2-40B4-BE49-F238E27FC236}">
                <a16:creationId xmlns:a16="http://schemas.microsoft.com/office/drawing/2014/main" id="{9EC51A13-5A42-63DE-2F95-9EE69CA7C5FE}"/>
              </a:ext>
            </a:extLst>
          </p:cNvPr>
          <p:cNvSpPr txBox="1"/>
          <p:nvPr/>
        </p:nvSpPr>
        <p:spPr>
          <a:xfrm>
            <a:off x="9314931" y="265543"/>
            <a:ext cx="2426195" cy="34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>
                <a:solidFill>
                  <a:srgbClr val="002D3C"/>
                </a:solidFill>
                <a:latin typeface="Montserrat" pitchFamily="2" charset="77"/>
                <a:ea typeface="Google Sans"/>
                <a:cs typeface="Google Sans"/>
                <a:sym typeface="Google Sans"/>
              </a:rPr>
              <a:t>Langgraph</a:t>
            </a:r>
            <a:r>
              <a:rPr lang="en-US" sz="1200" b="1" dirty="0">
                <a:solidFill>
                  <a:srgbClr val="002D3C"/>
                </a:solidFill>
                <a:latin typeface="Montserrat" pitchFamily="2" charset="77"/>
                <a:ea typeface="Google Sans"/>
                <a:cs typeface="Google Sans"/>
                <a:sym typeface="Google Sans"/>
              </a:rPr>
              <a:t> workflow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2D3C"/>
              </a:solidFill>
              <a:effectLst/>
              <a:uLnTx/>
              <a:uFillTx/>
              <a:latin typeface="Montserrat" pitchFamily="2" charset="77"/>
              <a:ea typeface="Google Sans"/>
              <a:cs typeface="Google Sans"/>
              <a:sym typeface="Google Sans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CB40F6DB-EF34-A7D9-9C0E-A2C455E561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1816" y="741446"/>
            <a:ext cx="2162175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1381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276</Words>
  <Application>Microsoft Office PowerPoint</Application>
  <PresentationFormat>Grand écran</PresentationFormat>
  <Paragraphs>35</Paragraphs>
  <Slides>3</Slides>
  <Notes>3</Notes>
  <HiddenSlides>0</HiddenSlides>
  <MMClips>2</MMClips>
  <ScaleCrop>false</ScaleCrop>
  <HeadingPairs>
    <vt:vector size="6" baseType="variant">
      <vt:variant>
        <vt:lpstr>Polices utilisées</vt:lpstr>
      </vt:variant>
      <vt:variant>
        <vt:i4>15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9" baseType="lpstr">
      <vt:lpstr>-apple-system</vt:lpstr>
      <vt:lpstr>Aptos</vt:lpstr>
      <vt:lpstr>Aptos Display</vt:lpstr>
      <vt:lpstr>Arial</vt:lpstr>
      <vt:lpstr>Calibri</vt:lpstr>
      <vt:lpstr>Lucida Sans Unicode</vt:lpstr>
      <vt:lpstr>Montserrat</vt:lpstr>
      <vt:lpstr>Montserrat Bold</vt:lpstr>
      <vt:lpstr>Montserrat Medium</vt:lpstr>
      <vt:lpstr>Montserrat SemiBold</vt:lpstr>
      <vt:lpstr>Raleway Light</vt:lpstr>
      <vt:lpstr>Raleway Medium</vt:lpstr>
      <vt:lpstr>Raleway SemiBold</vt:lpstr>
      <vt:lpstr>Verdana</vt:lpstr>
      <vt:lpstr>Wingdings</vt:lpstr>
      <vt:lpstr>Thème Office</vt:lpstr>
      <vt:lpstr>Google Agentic Hackathon</vt:lpstr>
      <vt:lpstr>Présentation PowerPoint</vt:lpstr>
      <vt:lpstr>Automated code revie by Gemini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Arindam Banerjee</dc:creator>
  <cp:lastModifiedBy>Arindam Banerjee</cp:lastModifiedBy>
  <cp:revision>2</cp:revision>
  <dcterms:created xsi:type="dcterms:W3CDTF">2025-03-18T14:39:17Z</dcterms:created>
  <dcterms:modified xsi:type="dcterms:W3CDTF">2025-03-18T16:12:06Z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cb69475-382c-4c7a-b21d-8ca64eeef1bd_Enabled">
    <vt:lpwstr>true</vt:lpwstr>
  </property>
  <property fmtid="{D5CDD505-2E9C-101B-9397-08002B2CF9AE}" pid="3" name="MSIP_Label_ecb69475-382c-4c7a-b21d-8ca64eeef1bd_SetDate">
    <vt:lpwstr>2025-03-18T14:59:52Z</vt:lpwstr>
  </property>
  <property fmtid="{D5CDD505-2E9C-101B-9397-08002B2CF9AE}" pid="4" name="MSIP_Label_ecb69475-382c-4c7a-b21d-8ca64eeef1bd_Method">
    <vt:lpwstr>Standard</vt:lpwstr>
  </property>
  <property fmtid="{D5CDD505-2E9C-101B-9397-08002B2CF9AE}" pid="5" name="MSIP_Label_ecb69475-382c-4c7a-b21d-8ca64eeef1bd_Name">
    <vt:lpwstr>Eviden For Internal Use - All Employees</vt:lpwstr>
  </property>
  <property fmtid="{D5CDD505-2E9C-101B-9397-08002B2CF9AE}" pid="6" name="MSIP_Label_ecb69475-382c-4c7a-b21d-8ca64eeef1bd_SiteId">
    <vt:lpwstr>7d1c7785-2d8a-437d-b842-1ed5d8fbe00a</vt:lpwstr>
  </property>
  <property fmtid="{D5CDD505-2E9C-101B-9397-08002B2CF9AE}" pid="7" name="MSIP_Label_ecb69475-382c-4c7a-b21d-8ca64eeef1bd_ActionId">
    <vt:lpwstr>766f96cb-9987-41a0-a224-874855c7f14f</vt:lpwstr>
  </property>
  <property fmtid="{D5CDD505-2E9C-101B-9397-08002B2CF9AE}" pid="8" name="MSIP_Label_ecb69475-382c-4c7a-b21d-8ca64eeef1bd_ContentBits">
    <vt:lpwstr>0</vt:lpwstr>
  </property>
</Properties>
</file>